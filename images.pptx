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E6"/>
    <a:srgbClr val="642A05"/>
    <a:srgbClr val="6E37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B51E28-63FF-3318-0B84-376484A56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9D7B053-D2A5-1EC8-5550-4A80AB821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6E2EB3-FBAA-1F39-69B7-E10128AD1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0C7E3-46E0-4647-BACD-EC45307D7EB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401CDB-45E6-922E-6778-CF27BD8F7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49CF7E-FCA7-3553-4A55-FC9C51392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DE19-3B93-49AB-BA22-FDEB28BD09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704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32F1AE-D766-B278-3CDB-CAA46C8BA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4D2BCC-F02A-179B-DBD0-D7B74E74E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4B3385-455E-6C0B-EA4B-ED5F63663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0C7E3-46E0-4647-BACD-EC45307D7EB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CC085D-298A-5A52-30A4-B0D1236EF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680AE5-A026-85B9-4CDF-6D3192B47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DE19-3B93-49AB-BA22-FDEB28BD09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97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176253-D20E-4A41-F1A1-5C7105FC3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573D66-F5B5-E514-D755-9C85A60BA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5E49DE-03C0-1DA8-0F5C-33B7B81AE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0C7E3-46E0-4647-BACD-EC45307D7EB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DA5FF4-1199-5521-7C27-76E04C5E6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EA1C11-BE51-735F-3A49-9AE970088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DE19-3B93-49AB-BA22-FDEB28BD09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962F64-FBB9-5DFE-BFBC-DF5F38629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3076DE-DAB5-57EF-4A55-E52065B0A5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E2FFD0F-6E0B-99D4-17D2-34BF69715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000473-592C-91E9-96EE-E70A08841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0C7E3-46E0-4647-BACD-EC45307D7EB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CD0C7B-152F-5935-8E3B-3E1E2D300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9AA67F-C02A-A3FE-31A0-0730C441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DE19-3B93-49AB-BA22-FDEB28BD09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40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B83C3A-DD8F-CAA3-2E42-619DFB511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18D181-743E-C09C-B45A-AF40E67F0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192B2BB-34B2-39B7-4989-E2F9412C9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06759F0-9A48-7EDB-2E61-8620C50823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8C3CA91-2D5F-306E-2C92-4838F61303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0F798CD-08EB-5CF0-0FA3-CBC3DAD79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0C7E3-46E0-4647-BACD-EC45307D7EB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2B91D9D-B7B1-27F9-2D61-4188ADFD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ACF8567-F0D9-AFA8-C50F-C66F3105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DE19-3B93-49AB-BA22-FDEB28BD09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14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7CED0E-26F4-BAF8-E156-481E5E72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9B13DCF-7139-33ED-BB6B-A88CFC47D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0C7E3-46E0-4647-BACD-EC45307D7EB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6767403-07A6-9C32-84F4-E585D7F94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2480146-9CA8-3FD7-DDAE-C70D8986C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DE19-3B93-49AB-BA22-FDEB28BD09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2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540F793-2A32-39E8-D8D1-FCAA54E4D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0C7E3-46E0-4647-BACD-EC45307D7EB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8D7731-E5EF-E346-3B64-787332F1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22D092-C9A1-3CFB-D4E8-4945C49AA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DE19-3B93-49AB-BA22-FDEB28BD09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4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4956D8-85F1-3B7E-3AB4-D85D78D42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6D3407-1211-0E93-8B32-C00753470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74B255C-6582-3853-DC29-C652455F31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48D3CB-FF7A-0D3D-D445-885E8314E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0C7E3-46E0-4647-BACD-EC45307D7EB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DB3243-C372-3B0F-55B6-B49CB7A24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DB0413A-2112-BADC-C562-AB009AA19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DE19-3B93-49AB-BA22-FDEB28BD09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7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1DB88D-5C31-3D5A-8C05-8421DFA90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2BFF632-1086-A94D-9B12-0E471C5407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FCFE53E-5BB9-5E67-29B6-CCC73AC38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9E240F-E656-E882-03B1-40C8A8BBB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0C7E3-46E0-4647-BACD-EC45307D7EB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F460BBE-E02D-1A60-A2D4-094963ED4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6DFCE0-0EF1-F25E-611B-B2F67BB1B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DE19-3B93-49AB-BA22-FDEB28BD09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753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B2FAE4-C5AF-BD51-685D-604F69616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BA0F733-AD93-DB14-B18F-2056A679B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EA958A-315C-E33B-CF0C-7B2EBC74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0C7E3-46E0-4647-BACD-EC45307D7EB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2C543C-BDB4-B329-736E-303646F9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A96DF1-B8FE-C87A-3DAC-62C69B040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DE19-3B93-49AB-BA22-FDEB28BD09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90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9803CB4-7561-B283-D198-F765C9E09C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2FF9327-F41E-AACA-E9A2-FC0EC23F6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E2195B-2630-6FBB-635D-7ED4EF8D8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0C7E3-46E0-4647-BACD-EC45307D7EB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73BB75-CF3A-51F9-1D40-F27E3F45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4746CC-9AF8-624F-BAEB-106EAB209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6DE19-3B93-49AB-BA22-FDEB28BD09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05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E8D85D7-266A-2B76-5E7A-182B00D44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A52655-C39E-C94B-9D3A-70B8C5569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60F016-9DC2-D153-308B-5B22C08F1C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70C7E3-46E0-4647-BACD-EC45307D7EB3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01FE3D-0674-1CA6-89FA-76AA79CA6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0F1001-B161-1FA0-4D39-3BBF567F1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96DE19-3B93-49AB-BA22-FDEB28BD091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44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Cartoon, Darstellung enthält.&#10;&#10;KI-generierte Inhalte können fehlerhaft sein.">
            <a:extLst>
              <a:ext uri="{FF2B5EF4-FFF2-40B4-BE49-F238E27FC236}">
                <a16:creationId xmlns:a16="http://schemas.microsoft.com/office/drawing/2014/main" id="{C84E58A4-53B3-ABD1-A396-2A56A84B2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66730595-7558-D952-9142-F3464C7BE499}"/>
              </a:ext>
            </a:extLst>
          </p:cNvPr>
          <p:cNvSpPr txBox="1"/>
          <p:nvPr/>
        </p:nvSpPr>
        <p:spPr>
          <a:xfrm>
            <a:off x="2076090" y="2076089"/>
            <a:ext cx="37036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Grundgesamtheit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Population</a:t>
            </a:r>
            <a:endParaRPr lang="en-US" sz="20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Nullhypothese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Anteil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braun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10%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E34F163-DD37-E67C-5D5D-17EFAB6937B5}"/>
              </a:ext>
            </a:extLst>
          </p:cNvPr>
          <p:cNvSpPr txBox="1"/>
          <p:nvPr/>
        </p:nvSpPr>
        <p:spPr>
          <a:xfrm>
            <a:off x="7729268" y="5757138"/>
            <a:ext cx="35102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rgbClr val="642A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Stichprobe</a:t>
            </a:r>
            <a:r>
              <a:rPr lang="en-US" sz="2000" b="1" dirty="0">
                <a:solidFill>
                  <a:srgbClr val="642A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(10 </a:t>
            </a:r>
            <a:r>
              <a:rPr lang="en-US" sz="2000" b="1" dirty="0" err="1">
                <a:solidFill>
                  <a:srgbClr val="642A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Kugeln</a:t>
            </a:r>
            <a:r>
              <a:rPr lang="en-US" sz="2000" b="1" dirty="0">
                <a:solidFill>
                  <a:srgbClr val="642A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/>
            <a:r>
              <a:rPr lang="en-US" sz="2000" dirty="0">
                <a:solidFill>
                  <a:srgbClr val="642A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2000" dirty="0" err="1">
                <a:solidFill>
                  <a:srgbClr val="642A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braun</a:t>
            </a:r>
            <a:r>
              <a:rPr lang="en-US" sz="2000" dirty="0">
                <a:solidFill>
                  <a:srgbClr val="642A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8 </a:t>
            </a:r>
            <a:r>
              <a:rPr lang="en-US" sz="2000" dirty="0" err="1">
                <a:solidFill>
                  <a:srgbClr val="642A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weiß</a:t>
            </a:r>
            <a:endParaRPr lang="en-US" sz="2000" dirty="0">
              <a:solidFill>
                <a:srgbClr val="642A0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 err="1">
                <a:solidFill>
                  <a:srgbClr val="642A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Anteil</a:t>
            </a:r>
            <a:r>
              <a:rPr lang="en-US" sz="2000" dirty="0">
                <a:solidFill>
                  <a:srgbClr val="642A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dirty="0" err="1">
                <a:solidFill>
                  <a:srgbClr val="642A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braun</a:t>
            </a:r>
            <a:r>
              <a:rPr lang="en-US" sz="2000" dirty="0">
                <a:solidFill>
                  <a:srgbClr val="642A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20%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1B6E8AD-024F-D566-5175-23C2A189AA44}"/>
              </a:ext>
            </a:extLst>
          </p:cNvPr>
          <p:cNvSpPr txBox="1"/>
          <p:nvPr/>
        </p:nvSpPr>
        <p:spPr>
          <a:xfrm>
            <a:off x="1025387" y="5911026"/>
            <a:ext cx="3510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rgbClr val="642A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Farbe</a:t>
            </a:r>
            <a:r>
              <a:rPr lang="en-US" sz="2000" b="1" dirty="0">
                <a:solidFill>
                  <a:srgbClr val="642A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642A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braun</a:t>
            </a:r>
            <a:r>
              <a:rPr lang="en-US" sz="2000" b="1" dirty="0">
                <a:solidFill>
                  <a:srgbClr val="642A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 err="1">
                <a:solidFill>
                  <a:srgbClr val="642A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Berufsausstiegswunsch</a:t>
            </a:r>
            <a:endParaRPr lang="en-US" sz="2000" dirty="0">
              <a:solidFill>
                <a:srgbClr val="642A0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942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Menschliches Gesicht, Kleidung, Mobiliar enthält.&#10;&#10;KI-generierte Inhalte können fehlerhaft sein.">
            <a:extLst>
              <a:ext uri="{FF2B5EF4-FFF2-40B4-BE49-F238E27FC236}">
                <a16:creationId xmlns:a16="http://schemas.microsoft.com/office/drawing/2014/main" id="{B5F5CCDA-B90A-C16D-972D-CB19D708F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34F4BE2D-006B-34A4-3192-1B9CC662CDE3}"/>
              </a:ext>
            </a:extLst>
          </p:cNvPr>
          <p:cNvSpPr/>
          <p:nvPr/>
        </p:nvSpPr>
        <p:spPr>
          <a:xfrm>
            <a:off x="6877878" y="2339163"/>
            <a:ext cx="302643" cy="297711"/>
          </a:xfrm>
          <a:prstGeom prst="rect">
            <a:avLst/>
          </a:prstGeom>
          <a:solidFill>
            <a:srgbClr val="FDF3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45475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C48C94A-F725-1395-D21D-0C8F0EE284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1A78F257-888D-F61B-0090-BB629410B614}"/>
              </a:ext>
            </a:extLst>
          </p:cNvPr>
          <p:cNvSpPr txBox="1"/>
          <p:nvPr/>
        </p:nvSpPr>
        <p:spPr>
          <a:xfrm>
            <a:off x="5287617" y="371831"/>
            <a:ext cx="5579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noProof="0" dirty="0"/>
              <a:t>Das Ergebnis der Studie ist interessant, aber statistisch nicht signifikant. Der p-Wert liegt bei 0.299. Die </a:t>
            </a:r>
            <a:r>
              <a:rPr lang="de-DE" dirty="0"/>
              <a:t>W</a:t>
            </a:r>
            <a:r>
              <a:rPr lang="de-DE" noProof="0" dirty="0" err="1"/>
              <a:t>ahrscheinlichkeit</a:t>
            </a:r>
            <a:r>
              <a:rPr lang="de-DE" noProof="0" dirty="0"/>
              <a:t>, dass die Nullhypothese wahr ist beträgt also fast 30%. Das ist doch eine recht große Wahrscheinlichkeit zugunsten meiner Annahme (Nullhypothese).</a:t>
            </a:r>
          </a:p>
        </p:txBody>
      </p:sp>
    </p:spTree>
    <p:extLst>
      <p:ext uri="{BB962C8B-B14F-4D97-AF65-F5344CB8AC3E}">
        <p14:creationId xmlns:p14="http://schemas.microsoft.com/office/powerpoint/2010/main" val="572554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F5D68-0FBA-EDD5-D3AF-F9EBEC27D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41925F5-373D-6016-88BF-1A1D267E1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50"/>
          <a:stretch>
            <a:fillRect/>
          </a:stretch>
        </p:blipFill>
        <p:spPr>
          <a:xfrm>
            <a:off x="5922065" y="0"/>
            <a:ext cx="6269935" cy="6858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5CC1CDA0-A51D-1D02-E4D0-5357246A50F7}"/>
              </a:ext>
            </a:extLst>
          </p:cNvPr>
          <p:cNvSpPr txBox="1"/>
          <p:nvPr/>
        </p:nvSpPr>
        <p:spPr>
          <a:xfrm>
            <a:off x="6283188" y="326219"/>
            <a:ext cx="5579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noProof="0" dirty="0"/>
              <a:t>Das Ergebnis der Studie ist interessant, aber </a:t>
            </a:r>
            <a:r>
              <a:rPr lang="de-DE" b="1" noProof="0" dirty="0"/>
              <a:t>statistisch nicht signifikant </a:t>
            </a:r>
            <a:r>
              <a:rPr lang="de-DE" noProof="0" dirty="0"/>
              <a:t>und </a:t>
            </a:r>
            <a:r>
              <a:rPr lang="de-DE" b="1" noProof="0" dirty="0"/>
              <a:t>daher irrelevant</a:t>
            </a:r>
            <a:r>
              <a:rPr lang="de-DE" noProof="0" dirty="0"/>
              <a:t>.</a:t>
            </a:r>
          </a:p>
          <a:p>
            <a:pPr algn="ctr"/>
            <a:r>
              <a:rPr lang="de-DE" noProof="0" dirty="0"/>
              <a:t>Der p-Wert liegt bei 0.299. Die Wahrscheinlichkeit, dass die Daten rein zufällig zustande gekommen sind, beträgt also fast 30%. Das ist doch eine recht große Wahrscheinlichkeit für einen Zufallsbefund.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3D51301-27B6-87D1-672C-E6FF8DBDB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50"/>
          <a:stretch>
            <a:fillRect/>
          </a:stretch>
        </p:blipFill>
        <p:spPr>
          <a:xfrm>
            <a:off x="-402534" y="0"/>
            <a:ext cx="6269935" cy="6858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188E95D2-EA95-4F7C-67B0-AE8433DB22B7}"/>
              </a:ext>
            </a:extLst>
          </p:cNvPr>
          <p:cNvSpPr txBox="1"/>
          <p:nvPr/>
        </p:nvSpPr>
        <p:spPr>
          <a:xfrm>
            <a:off x="-39755" y="326219"/>
            <a:ext cx="5579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noProof="0" dirty="0"/>
              <a:t>Das Ergebnis der Studie ist interessant, aber </a:t>
            </a:r>
            <a:r>
              <a:rPr lang="de-DE" b="1" noProof="0" dirty="0"/>
              <a:t>statistisch nicht signifikant </a:t>
            </a:r>
            <a:r>
              <a:rPr lang="de-DE" noProof="0" dirty="0"/>
              <a:t>und </a:t>
            </a:r>
            <a:r>
              <a:rPr lang="de-DE" b="1" noProof="0" dirty="0"/>
              <a:t>daher irrelevant</a:t>
            </a:r>
            <a:r>
              <a:rPr lang="de-DE" noProof="0" dirty="0"/>
              <a:t>.</a:t>
            </a:r>
          </a:p>
          <a:p>
            <a:pPr algn="ctr"/>
            <a:r>
              <a:rPr lang="de-DE" noProof="0" dirty="0"/>
              <a:t>Der p-Wert liegt bei 0.299. Die </a:t>
            </a:r>
            <a:r>
              <a:rPr lang="de-DE" dirty="0"/>
              <a:t>W</a:t>
            </a:r>
            <a:r>
              <a:rPr lang="de-DE" noProof="0" dirty="0" err="1"/>
              <a:t>ahrscheinlichkeit</a:t>
            </a:r>
            <a:r>
              <a:rPr lang="de-DE" noProof="0" dirty="0"/>
              <a:t>, dass die Nullhypothese wahr ist beträgt also fast 30%. Das ist doch eine recht große Wahrscheinlichkeit zugunsten meiner Annahme (Nullhypothese).</a:t>
            </a:r>
          </a:p>
        </p:txBody>
      </p:sp>
    </p:spTree>
    <p:extLst>
      <p:ext uri="{BB962C8B-B14F-4D97-AF65-F5344CB8AC3E}">
        <p14:creationId xmlns:p14="http://schemas.microsoft.com/office/powerpoint/2010/main" val="1869015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Breitbild</PresentationFormat>
  <Paragraphs>15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Pawel Roman Kulawiak</dc:creator>
  <cp:lastModifiedBy>Pawel Roman Kulawiak</cp:lastModifiedBy>
  <cp:revision>4</cp:revision>
  <dcterms:created xsi:type="dcterms:W3CDTF">2026-02-02T16:00:21Z</dcterms:created>
  <dcterms:modified xsi:type="dcterms:W3CDTF">2026-02-06T16:28:58Z</dcterms:modified>
</cp:coreProperties>
</file>